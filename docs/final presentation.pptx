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anum Gothic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anumGothic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NanumGothic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e797c25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e797c25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e797c250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e797c250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e797c250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e797c250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e797c250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e797c250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e797c2505_4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e797c2505_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e797c2505_4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e797c2505_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e797c2505_4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e797c2505_4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e797c2505_4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e797c2505_4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e797c2505_4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e797c2505_4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e797c2505_4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e797c2505_4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www.youtube.com/watch?v=H60ygsNE4Bw" TargetMode="External"/><Relationship Id="rId4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Final Presentation</a:t>
            </a:r>
            <a:endParaRPr b="1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latin typeface="Nanum Gothic"/>
                <a:ea typeface="Nanum Gothic"/>
                <a:cs typeface="Nanum Gothic"/>
                <a:sym typeface="Nanum Gothic"/>
              </a:rPr>
              <a:t>Cyan: Minwoo Kim, Hyeonseo Park, Jongwon Lee</a:t>
            </a:r>
            <a:endParaRPr b="1" sz="2000"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181200" y="153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Program Specification</a:t>
            </a:r>
            <a:endParaRPr b="1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56175" y="2078700"/>
            <a:ext cx="887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anum Gothic"/>
              <a:buChar char="●"/>
            </a:pPr>
            <a:r>
              <a:rPr lang="ko" sz="15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output file: one completely sorted file named partition.n, n is order of worker program</a:t>
            </a:r>
            <a:endParaRPr sz="15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anum Gothic"/>
              <a:buChar char="●"/>
            </a:pPr>
            <a:r>
              <a:rPr lang="ko" sz="15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sort correctness check passed by test code (shell program)</a:t>
            </a:r>
            <a:endParaRPr sz="15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anum Gothic"/>
              <a:buChar char="●"/>
            </a:pPr>
            <a:r>
              <a:rPr lang="ko" sz="15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complete fault tolerance on one worker one fault scenario</a:t>
            </a:r>
            <a:endParaRPr sz="15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anum Gothic"/>
              <a:buChar char="●"/>
            </a:pPr>
            <a:r>
              <a:rPr lang="ko" sz="15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logger applied: log at worker.log(master.log) with timestamp, classname, log level, message</a:t>
            </a:r>
            <a:endParaRPr sz="15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anum Gothic"/>
              <a:buChar char="●"/>
            </a:pPr>
            <a:r>
              <a:rPr lang="ko" sz="15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almost no assumption or easy modification on physical memory, file size</a:t>
            </a:r>
            <a:endParaRPr sz="21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62" name="Google Shape;62;p14" title="2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5" y="760425"/>
            <a:ext cx="5200174" cy="62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title="2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25" y="1533275"/>
            <a:ext cx="8168002" cy="70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module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 title="스크린샷 2025-12-08 오후 11.32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550"/>
            <a:ext cx="7201449" cy="50037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" name="Google Shape;74;p16"/>
          <p:cNvCxnSpPr/>
          <p:nvPr/>
        </p:nvCxnSpPr>
        <p:spPr>
          <a:xfrm>
            <a:off x="1687875" y="336175"/>
            <a:ext cx="699900" cy="6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6"/>
          <p:cNvCxnSpPr/>
          <p:nvPr/>
        </p:nvCxnSpPr>
        <p:spPr>
          <a:xfrm>
            <a:off x="2500325" y="336175"/>
            <a:ext cx="231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6"/>
          <p:cNvCxnSpPr/>
          <p:nvPr/>
        </p:nvCxnSpPr>
        <p:spPr>
          <a:xfrm>
            <a:off x="831750" y="1216950"/>
            <a:ext cx="603900" cy="1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6"/>
          <p:cNvCxnSpPr/>
          <p:nvPr/>
        </p:nvCxnSpPr>
        <p:spPr>
          <a:xfrm flipH="1" rot="10800000">
            <a:off x="1544425" y="1211700"/>
            <a:ext cx="241500" cy="2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6"/>
          <p:cNvCxnSpPr/>
          <p:nvPr/>
        </p:nvCxnSpPr>
        <p:spPr>
          <a:xfrm flipH="1" rot="10800000">
            <a:off x="1378025" y="1954050"/>
            <a:ext cx="772200" cy="12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6"/>
          <p:cNvCxnSpPr/>
          <p:nvPr/>
        </p:nvCxnSpPr>
        <p:spPr>
          <a:xfrm flipH="1" rot="10800000">
            <a:off x="3412725" y="1958850"/>
            <a:ext cx="241500" cy="2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6"/>
          <p:cNvCxnSpPr/>
          <p:nvPr/>
        </p:nvCxnSpPr>
        <p:spPr>
          <a:xfrm>
            <a:off x="1593475" y="3577325"/>
            <a:ext cx="689700" cy="15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6"/>
          <p:cNvCxnSpPr/>
          <p:nvPr/>
        </p:nvCxnSpPr>
        <p:spPr>
          <a:xfrm flipH="1" rot="10800000">
            <a:off x="5610200" y="3583775"/>
            <a:ext cx="241500" cy="2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6"/>
          <p:cNvCxnSpPr/>
          <p:nvPr/>
        </p:nvCxnSpPr>
        <p:spPr>
          <a:xfrm>
            <a:off x="1633800" y="3827775"/>
            <a:ext cx="992700" cy="10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6"/>
          <p:cNvCxnSpPr/>
          <p:nvPr/>
        </p:nvCxnSpPr>
        <p:spPr>
          <a:xfrm>
            <a:off x="2017325" y="4072825"/>
            <a:ext cx="672000" cy="10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6"/>
          <p:cNvCxnSpPr/>
          <p:nvPr/>
        </p:nvCxnSpPr>
        <p:spPr>
          <a:xfrm>
            <a:off x="733975" y="5050050"/>
            <a:ext cx="841800" cy="6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16"/>
          <p:cNvCxnSpPr/>
          <p:nvPr/>
        </p:nvCxnSpPr>
        <p:spPr>
          <a:xfrm>
            <a:off x="1633800" y="2344975"/>
            <a:ext cx="761400" cy="15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16"/>
          <p:cNvCxnSpPr/>
          <p:nvPr/>
        </p:nvCxnSpPr>
        <p:spPr>
          <a:xfrm>
            <a:off x="1492050" y="4313838"/>
            <a:ext cx="761400" cy="15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6"/>
          <p:cNvCxnSpPr/>
          <p:nvPr/>
        </p:nvCxnSpPr>
        <p:spPr>
          <a:xfrm>
            <a:off x="2955550" y="2360250"/>
            <a:ext cx="6372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6"/>
          <p:cNvCxnSpPr/>
          <p:nvPr/>
        </p:nvCxnSpPr>
        <p:spPr>
          <a:xfrm>
            <a:off x="4197375" y="2352625"/>
            <a:ext cx="747300" cy="14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6"/>
          <p:cNvCxnSpPr/>
          <p:nvPr/>
        </p:nvCxnSpPr>
        <p:spPr>
          <a:xfrm>
            <a:off x="2812125" y="4321500"/>
            <a:ext cx="6372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16"/>
          <p:cNvCxnSpPr/>
          <p:nvPr/>
        </p:nvCxnSpPr>
        <p:spPr>
          <a:xfrm>
            <a:off x="4071100" y="4321500"/>
            <a:ext cx="551400" cy="13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6"/>
          <p:cNvCxnSpPr/>
          <p:nvPr/>
        </p:nvCxnSpPr>
        <p:spPr>
          <a:xfrm>
            <a:off x="4944675" y="4328400"/>
            <a:ext cx="973500" cy="6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6"/>
          <p:cNvCxnSpPr/>
          <p:nvPr/>
        </p:nvCxnSpPr>
        <p:spPr>
          <a:xfrm>
            <a:off x="5280975" y="2359975"/>
            <a:ext cx="6372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6"/>
          <p:cNvCxnSpPr/>
          <p:nvPr/>
        </p:nvCxnSpPr>
        <p:spPr>
          <a:xfrm>
            <a:off x="382100" y="228050"/>
            <a:ext cx="577500" cy="10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16"/>
          <p:cNvCxnSpPr/>
          <p:nvPr/>
        </p:nvCxnSpPr>
        <p:spPr>
          <a:xfrm>
            <a:off x="382100" y="1816225"/>
            <a:ext cx="577500" cy="10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16"/>
          <p:cNvCxnSpPr/>
          <p:nvPr/>
        </p:nvCxnSpPr>
        <p:spPr>
          <a:xfrm>
            <a:off x="1246650" y="2962550"/>
            <a:ext cx="1646100" cy="7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" name="Google Shape;96;p16"/>
          <p:cNvSpPr txBox="1"/>
          <p:nvPr/>
        </p:nvSpPr>
        <p:spPr>
          <a:xfrm>
            <a:off x="5511875" y="434250"/>
            <a:ext cx="2892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explicitly call each phase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FF"/>
                </a:solidFill>
              </a:rPr>
              <a:t>reuse</a:t>
            </a:r>
            <a:r>
              <a:rPr lang="ko">
                <a:solidFill>
                  <a:srgbClr val="0000FF"/>
                </a:solidFill>
              </a:rPr>
              <a:t> merge phase code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FF"/>
                </a:solidFill>
              </a:rPr>
              <a:t>represents concurrent phases</a:t>
            </a:r>
            <a:endParaRPr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224125" y="143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State Restoration</a:t>
            </a:r>
            <a:endParaRPr b="1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02" name="Google Shape;102;p17" title="5-3.png"/>
          <p:cNvPicPr preferRelativeResize="0"/>
          <p:nvPr/>
        </p:nvPicPr>
        <p:blipFill rotWithShape="1">
          <a:blip r:embed="rId3">
            <a:alphaModFix/>
          </a:blip>
          <a:srcRect b="0" l="0" r="43845" t="0"/>
          <a:stretch/>
        </p:blipFill>
        <p:spPr>
          <a:xfrm>
            <a:off x="4469175" y="747325"/>
            <a:ext cx="4363123" cy="386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 title="5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925" y="1016672"/>
            <a:ext cx="3950008" cy="43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 title="5-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925" y="1583472"/>
            <a:ext cx="3949998" cy="49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 title="5-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7925" y="2353134"/>
            <a:ext cx="3950000" cy="119028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323000" y="2142397"/>
            <a:ext cx="403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</a:rPr>
              <a:t>change state and call storeState()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224125" y="635535"/>
            <a:ext cx="403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</a:rPr>
              <a:t>use global &amp; serializable state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4572000" y="319263"/>
            <a:ext cx="403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</a:rPr>
              <a:t>writeObject -&gt; disk -&gt; readObject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109" name="Google Shape;109;p17" title="스크린샷 2025-12-09 오전 12.08.4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7925" y="3953225"/>
            <a:ext cx="2871868" cy="11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 txBox="1"/>
          <p:nvPr/>
        </p:nvSpPr>
        <p:spPr>
          <a:xfrm>
            <a:off x="147925" y="3617360"/>
            <a:ext cx="403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</a:rPr>
              <a:t>when restored, just check state and skip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07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119350" y="199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Client action on Server dies</a:t>
            </a:r>
            <a:endParaRPr/>
          </a:p>
        </p:txBody>
      </p:sp>
      <p:pic>
        <p:nvPicPr>
          <p:cNvPr id="121" name="Google Shape;121;p19" title="7-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2249" y="3250420"/>
            <a:ext cx="4667376" cy="14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9" title="7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2250" y="2397475"/>
            <a:ext cx="461982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 title="7-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3475" y="892325"/>
            <a:ext cx="4766849" cy="116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/>
        </p:nvSpPr>
        <p:spPr>
          <a:xfrm>
            <a:off x="119338" y="1052225"/>
            <a:ext cx="4034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solidFill>
                  <a:schemeClr val="dk1"/>
                </a:solidFill>
              </a:rPr>
              <a:t>RetryUtil: retry until server revives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ko" sz="1700">
                <a:solidFill>
                  <a:schemeClr val="dk1"/>
                </a:solidFill>
              </a:rPr>
              <a:t>use call-by-name to create future</a:t>
            </a:r>
            <a:endParaRPr sz="1700">
              <a:solidFill>
                <a:schemeClr val="dk1"/>
              </a:solidFill>
            </a:endParaRPr>
          </a:p>
        </p:txBody>
      </p:sp>
      <p:cxnSp>
        <p:nvCxnSpPr>
          <p:cNvPr id="125" name="Google Shape;125;p19"/>
          <p:cNvCxnSpPr/>
          <p:nvPr/>
        </p:nvCxnSpPr>
        <p:spPr>
          <a:xfrm flipH="1" rot="10800000">
            <a:off x="4354600" y="1169603"/>
            <a:ext cx="471000" cy="12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9"/>
          <p:cNvCxnSpPr/>
          <p:nvPr/>
        </p:nvCxnSpPr>
        <p:spPr>
          <a:xfrm flipH="1" rot="10800000">
            <a:off x="2952175" y="2890828"/>
            <a:ext cx="471000" cy="12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19"/>
          <p:cNvCxnSpPr/>
          <p:nvPr/>
        </p:nvCxnSpPr>
        <p:spPr>
          <a:xfrm flipH="1" rot="10800000">
            <a:off x="1968400" y="3676853"/>
            <a:ext cx="336000" cy="9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19"/>
          <p:cNvSpPr txBox="1"/>
          <p:nvPr/>
        </p:nvSpPr>
        <p:spPr>
          <a:xfrm>
            <a:off x="838750" y="249532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solidFill>
                  <a:schemeClr val="dk1"/>
                </a:solidFill>
              </a:rPr>
              <a:t>shuffle: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838750" y="367682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solidFill>
                  <a:schemeClr val="dk1"/>
                </a:solidFill>
              </a:rPr>
              <a:t>sync: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latin typeface="Nanum Gothic"/>
                <a:ea typeface="Nanum Gothic"/>
                <a:cs typeface="Nanum Gothic"/>
                <a:sym typeface="Nanum Gothic"/>
              </a:rPr>
              <a:t>All cases considered for fault tolerance</a:t>
            </a:r>
            <a:endParaRPr b="1"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33"/>
              <a:t>Impossible to do every operation atomically with storeState() </a:t>
            </a:r>
            <a:endParaRPr sz="183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33"/>
              <a:t>-&gt; two main strategy: 1. overwrite, </a:t>
            </a:r>
            <a:r>
              <a:rPr lang="ko" sz="1833"/>
              <a:t>2</a:t>
            </a:r>
            <a:r>
              <a:rPr lang="ko" sz="1833"/>
              <a:t>. mark</a:t>
            </a:r>
            <a:endParaRPr b="1" sz="1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900" y="1069475"/>
            <a:ext cx="7211402" cy="4074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Test Automation Shell Script</a:t>
            </a:r>
            <a:endParaRPr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214275" y="3641925"/>
            <a:ext cx="4617900" cy="8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automate execution of master and worker</a:t>
            </a:r>
            <a:endParaRPr b="1" sz="15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each worker has one sorted file -&gt; valsort passed</a:t>
            </a:r>
            <a:endParaRPr/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1238" y="1261600"/>
            <a:ext cx="5481524" cy="225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214275" y="4248225"/>
            <a:ext cx="4617900" cy="8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5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all worker’s record sum: input == output</a:t>
            </a:r>
            <a:endParaRPr b="1" sz="15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38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previous worker’s tail &lt;= current worker’s head</a:t>
            </a:r>
            <a:endParaRPr b="1" sz="15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44" name="Google Shape;144;p21"/>
          <p:cNvSpPr txBox="1"/>
          <p:nvPr>
            <p:ph idx="1" type="body"/>
          </p:nvPr>
        </p:nvSpPr>
        <p:spPr>
          <a:xfrm>
            <a:off x="4685400" y="3641925"/>
            <a:ext cx="4617900" cy="14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5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fault tolerance test passed</a:t>
            </a:r>
            <a:endParaRPr b="1" sz="15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23850" lvl="0" marL="457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anum Gothic"/>
              <a:buChar char="●"/>
            </a:pPr>
            <a:r>
              <a:rPr b="1" lang="ko" sz="15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ctrl-c while program is running</a:t>
            </a:r>
            <a:endParaRPr b="1" sz="15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anum Gothic"/>
              <a:buChar char="●"/>
            </a:pPr>
            <a:r>
              <a:rPr b="1" lang="ko" sz="15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kill worker at specific phase by sys.exit</a:t>
            </a:r>
            <a:endParaRPr b="1" sz="15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anum Gothic"/>
              <a:buChar char="●"/>
            </a:pPr>
            <a:r>
              <a:rPr b="1" lang="ko" sz="15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use normal version of jar file when revives</a:t>
            </a:r>
            <a:endParaRPr b="1" sz="15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/>
        </p:nvSpPr>
        <p:spPr>
          <a:xfrm>
            <a:off x="4840350" y="3596725"/>
            <a:ext cx="402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demo for </a:t>
            </a:r>
            <a:r>
              <a:rPr b="1"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/dataset/small on 3 workers</a:t>
            </a:r>
            <a:endParaRPr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kill worker once.</a:t>
            </a:r>
            <a:endParaRPr b="1">
              <a:solidFill>
                <a:schemeClr val="dk2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242900" y="1372816"/>
            <a:ext cx="4059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E</a:t>
            </a:r>
            <a:r>
              <a:rPr b="1" lang="ko" sz="2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xecution time on 5 workers </a:t>
            </a:r>
            <a:endParaRPr b="1" sz="20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small	: ~6 seconds</a:t>
            </a:r>
            <a:endParaRPr b="1" sz="20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2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big		: ~22 seconds</a:t>
            </a:r>
            <a:endParaRPr b="1" sz="2000">
              <a:solidFill>
                <a:schemeClr val="dk2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51" name="Google Shape;151;p22"/>
          <p:cNvSpPr txBox="1"/>
          <p:nvPr>
            <p:ph type="title"/>
          </p:nvPr>
        </p:nvSpPr>
        <p:spPr>
          <a:xfrm>
            <a:off x="182900" y="129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Result</a:t>
            </a:r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255500" y="3242725"/>
            <a:ext cx="4401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1"/>
                </a:solidFill>
              </a:rPr>
              <a:t>Optimization methods:</a:t>
            </a:r>
            <a:endParaRPr sz="20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ko" sz="1600">
                <a:solidFill>
                  <a:schemeClr val="dk1"/>
                </a:solidFill>
              </a:rPr>
              <a:t>parallel execution on sort &amp; merge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ko" sz="1600">
                <a:solidFill>
                  <a:schemeClr val="dk1"/>
                </a:solidFill>
              </a:rPr>
              <a:t>increase disk buffer to reduce io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ko" sz="1600">
                <a:solidFill>
                  <a:schemeClr val="dk1"/>
                </a:solidFill>
              </a:rPr>
              <a:t>use disk lock to reduce disk thrashing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ko" sz="1600">
                <a:solidFill>
                  <a:schemeClr val="dk1"/>
                </a:solidFill>
              </a:rPr>
              <a:t>increase chunk size on network stream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descr="332project  demo video for fault tolerance" id="153" name="Google Shape;153;p22" title="cyan_dem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0350" y="1123637"/>
            <a:ext cx="3648134" cy="205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 txBox="1"/>
          <p:nvPr/>
        </p:nvSpPr>
        <p:spPr>
          <a:xfrm>
            <a:off x="277400" y="2622550"/>
            <a:ext cx="398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(assigned test &amp; demo time was not enough to test large)</a:t>
            </a:r>
            <a:endParaRPr b="1">
              <a:solidFill>
                <a:schemeClr val="dk2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Communication</a:t>
            </a:r>
            <a:endParaRPr/>
          </a:p>
        </p:txBody>
      </p:sp>
      <p:pic>
        <p:nvPicPr>
          <p:cNvPr id="160" name="Google Shape;160;p23" title="9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9725" y="3132474"/>
            <a:ext cx="1858749" cy="13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3"/>
          <p:cNvSpPr txBox="1"/>
          <p:nvPr/>
        </p:nvSpPr>
        <p:spPr>
          <a:xfrm>
            <a:off x="311700" y="1777725"/>
            <a:ext cx="69300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Code Review was not trivial work</a:t>
            </a:r>
            <a:endParaRPr b="1" sz="15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anum Gothic"/>
              <a:buChar char="●"/>
            </a:pPr>
            <a:r>
              <a:rPr b="1" lang="ko" sz="15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week6~7 was almost dedicated for review of core features</a:t>
            </a:r>
            <a:endParaRPr b="1" sz="15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anum Gothic"/>
              <a:buChar char="●"/>
            </a:pPr>
            <a:r>
              <a:rPr b="1" lang="ko" sz="15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total comment number (including ai review): 1148 comments..</a:t>
            </a:r>
            <a:endParaRPr b="1" sz="15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Distribution of work was not that ideal</a:t>
            </a:r>
            <a:endParaRPr b="1" sz="15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anum Gothic"/>
              <a:buChar char="●"/>
            </a:pPr>
            <a:r>
              <a:rPr b="1" lang="ko" sz="15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work speed: face to face &gt; remote on same time &gt; fully distributed</a:t>
            </a:r>
            <a:endParaRPr b="1" sz="15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5608875" y="4556400"/>
            <a:ext cx="34329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commit graph by time</a:t>
            </a:r>
            <a:endParaRPr b="1" sz="1100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b="1"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(</a:t>
            </a:r>
            <a:r>
              <a:rPr b="1" lang="ko" sz="11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implemented earlier, but merged later to main)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